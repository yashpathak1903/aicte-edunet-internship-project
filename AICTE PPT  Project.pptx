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63" r:id="rId8"/>
    <p:sldId id="265" r:id="rId9"/>
    <p:sldId id="2146847057" r:id="rId10"/>
    <p:sldId id="2146847060" r:id="rId11"/>
    <p:sldId id="2146847062" r:id="rId12"/>
    <p:sldId id="2146847061" r:id="rId13"/>
    <p:sldId id="2146847055"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Pathak" userId="49f1f6f45f0756b6" providerId="LiveId" clId="{95725823-0A7F-4CFD-9495-871A66868DD6}"/>
    <pc:docChg chg="modSld">
      <pc:chgData name="Yash Pathak" userId="49f1f6f45f0756b6" providerId="LiveId" clId="{95725823-0A7F-4CFD-9495-871A66868DD6}" dt="2025-02-21T14:38:30.668" v="27" actId="113"/>
      <pc:docMkLst>
        <pc:docMk/>
      </pc:docMkLst>
      <pc:sldChg chg="modSp mod">
        <pc:chgData name="Yash Pathak" userId="49f1f6f45f0756b6" providerId="LiveId" clId="{95725823-0A7F-4CFD-9495-871A66868DD6}" dt="2025-02-21T14:38:07.713" v="26" actId="207"/>
        <pc:sldMkLst>
          <pc:docMk/>
          <pc:sldMk cId="953325580" sldId="256"/>
        </pc:sldMkLst>
        <pc:spChg chg="mod">
          <ac:chgData name="Yash Pathak" userId="49f1f6f45f0756b6" providerId="LiveId" clId="{95725823-0A7F-4CFD-9495-871A66868DD6}" dt="2025-02-21T14:38:07.713" v="26" actId="207"/>
          <ac:spMkLst>
            <pc:docMk/>
            <pc:sldMk cId="953325580" sldId="256"/>
            <ac:spMk id="4" creationId="{00000000-0000-0000-0000-000000000000}"/>
          </ac:spMkLst>
        </pc:spChg>
      </pc:sldChg>
      <pc:sldChg chg="modSp mod">
        <pc:chgData name="Yash Pathak" userId="49f1f6f45f0756b6" providerId="LiveId" clId="{95725823-0A7F-4CFD-9495-871A66868DD6}" dt="2025-02-21T14:38:30.668" v="27" actId="113"/>
        <pc:sldMkLst>
          <pc:docMk/>
          <pc:sldMk cId="3210358481" sldId="263"/>
        </pc:sldMkLst>
        <pc:spChg chg="mod">
          <ac:chgData name="Yash Pathak" userId="49f1f6f45f0756b6" providerId="LiveId" clId="{95725823-0A7F-4CFD-9495-871A66868DD6}" dt="2025-02-21T14:38:30.668" v="27" actId="113"/>
          <ac:spMkLst>
            <pc:docMk/>
            <pc:sldMk cId="3210358481" sldId="263"/>
            <ac:spMk id="2" creationId="{E041FD9D-DF07-9C37-1E61-1D920E0EF1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21-02-2025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2/21/2025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2/21/2025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2/21/2025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2/21/2025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2/21/2025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2/21/2025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2/21/2025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2/21/2025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2/21/2025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2/21/2025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2/21/2025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2/21/2025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738604" cy="977778"/>
          </a:xfrm>
        </p:spPr>
        <p:txBody>
          <a:bodyPr>
            <a:normAutofit fontScale="90000"/>
          </a:bodyPr>
          <a:lstStyle/>
          <a:p>
            <a:r>
              <a:rPr lang="en-US" dirty="0"/>
              <a:t>Secure Data Hiding in Images Using Steganography</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 Yash Nitin Pathak</a:t>
            </a:r>
          </a:p>
          <a:p>
            <a:r>
              <a:rPr lang="en-US" sz="2000" b="1" dirty="0">
                <a:solidFill>
                  <a:schemeClr val="accent1">
                    <a:lumMod val="75000"/>
                  </a:schemeClr>
                </a:solidFill>
                <a:latin typeface="Arial"/>
                <a:cs typeface="Arial"/>
              </a:rPr>
              <a:t>Student Name : </a:t>
            </a:r>
            <a:r>
              <a:rPr lang="en-US" sz="2000" b="1" dirty="0">
                <a:solidFill>
                  <a:schemeClr val="accent1">
                    <a:lumMod val="75000"/>
                  </a:schemeClr>
                </a:solidFill>
                <a:latin typeface="Arial" pitchFamily="34" charset="0"/>
                <a:cs typeface="Arial" pitchFamily="34" charset="0"/>
              </a:rPr>
              <a:t>Yash Nitin Pathak</a:t>
            </a:r>
            <a:endParaRPr lang="en-US" sz="2000" b="1" dirty="0">
              <a:solidFill>
                <a:schemeClr val="accent1">
                  <a:lumMod val="75000"/>
                </a:schemeClr>
              </a:solidFill>
              <a:latin typeface="Arial"/>
              <a:cs typeface="Arial"/>
            </a:endParaRPr>
          </a:p>
          <a:p>
            <a:r>
              <a:rPr lang="en-US" sz="2000" b="1" dirty="0">
                <a:solidFill>
                  <a:schemeClr val="accent1">
                    <a:lumMod val="75000"/>
                  </a:schemeClr>
                </a:solidFill>
                <a:latin typeface="Arial"/>
                <a:cs typeface="Arial"/>
              </a:rPr>
              <a:t>College Name &amp; Department : </a:t>
            </a:r>
            <a:r>
              <a:rPr lang="en-US" sz="2000" b="0" i="0" dirty="0">
                <a:solidFill>
                  <a:schemeClr val="accent1">
                    <a:lumMod val="75000"/>
                  </a:schemeClr>
                </a:solidFill>
                <a:effectLst/>
                <a:latin typeface="Roboto" panose="02000000000000000000" pitchFamily="2" charset="0"/>
              </a:rPr>
              <a:t>St. Vincent Pallotti College of Engineering and Technology &amp; Information Technology</a:t>
            </a:r>
            <a:r>
              <a:rPr lang="en-US" sz="2000" b="1" dirty="0">
                <a:solidFill>
                  <a:schemeClr val="accent1">
                    <a:lumMod val="75000"/>
                  </a:schemeClr>
                </a:solidFill>
                <a:latin typeface="Arial"/>
                <a:cs typeface="Arial"/>
              </a:rPr>
              <a:t> </a:t>
            </a:r>
          </a:p>
          <a:p>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0" indent="0">
              <a:buNone/>
            </a:pPr>
            <a:endParaRPr lang="en-US" sz="2000" b="1" dirty="0">
              <a:latin typeface="Arial"/>
              <a:ea typeface="+mn-lt"/>
              <a:cs typeface="+mn-lt"/>
            </a:endParaRP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r>
              <a:rPr lang="en-US" sz="3200" dirty="0">
                <a:latin typeface="Times New Roman" panose="02020603050405020304" pitchFamily="18" charset="0"/>
                <a:cs typeface="Times New Roman" panose="02020603050405020304" pitchFamily="18" charset="0"/>
              </a:rPr>
              <a:t>Data security is a critical concern in today's digital world. Traditional encryption methods provide security but may attract attention from hackers. Steganography offers a way to hide sensitive data within images, making the hidden information less detectable. This project focuses on securely embedding and extracting data using steganographic techniques.</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Programming Language:</a:t>
            </a:r>
            <a:r>
              <a:rPr lang="en-IN" sz="3200" dirty="0">
                <a:latin typeface="Times New Roman" panose="02020603050405020304" pitchFamily="18" charset="0"/>
                <a:cs typeface="Times New Roman" panose="02020603050405020304" pitchFamily="18" charset="0"/>
              </a:rPr>
              <a:t> Python</a:t>
            </a:r>
          </a:p>
          <a:p>
            <a:pPr>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Libraries:</a:t>
            </a:r>
            <a:r>
              <a:rPr lang="en-IN" sz="3200" dirty="0">
                <a:latin typeface="Times New Roman" panose="02020603050405020304" pitchFamily="18" charset="0"/>
                <a:cs typeface="Times New Roman" panose="02020603050405020304" pitchFamily="18" charset="0"/>
              </a:rPr>
              <a:t> OpenCV</a:t>
            </a:r>
          </a:p>
          <a:p>
            <a:pPr>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Platform</a:t>
            </a:r>
            <a:r>
              <a:rPr lang="en-IN" sz="3200" dirty="0">
                <a:latin typeface="Times New Roman" panose="02020603050405020304" pitchFamily="18" charset="0"/>
                <a:cs typeface="Times New Roman" panose="02020603050405020304" pitchFamily="18" charset="0"/>
              </a:rPr>
              <a:t> : VS Code</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Concepts:</a:t>
            </a:r>
            <a:r>
              <a:rPr lang="en-IN" sz="3200" dirty="0">
                <a:latin typeface="Times New Roman" panose="02020603050405020304" pitchFamily="18" charset="0"/>
                <a:cs typeface="Times New Roman" panose="02020603050405020304" pitchFamily="18" charset="0"/>
              </a:rPr>
              <a:t> Steganography</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a:bodyPr>
          <a:lstStyle/>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High Security:</a:t>
            </a:r>
            <a:r>
              <a:rPr lang="en-US" sz="3200" dirty="0">
                <a:latin typeface="Times New Roman" panose="02020603050405020304" pitchFamily="18" charset="0"/>
                <a:cs typeface="Times New Roman" panose="02020603050405020304" pitchFamily="18" charset="0"/>
              </a:rPr>
              <a:t> Conceals data within images, making it difficult to detect.</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Minimal Data Alteration:</a:t>
            </a:r>
            <a:r>
              <a:rPr lang="en-US" sz="3200" dirty="0">
                <a:latin typeface="Times New Roman" panose="02020603050405020304" pitchFamily="18" charset="0"/>
                <a:cs typeface="Times New Roman" panose="02020603050405020304" pitchFamily="18" charset="0"/>
              </a:rPr>
              <a:t> The image appears unchanged to the human eye.</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Lightweight &amp; Efficient:</a:t>
            </a:r>
            <a:r>
              <a:rPr lang="en-US" sz="3200" dirty="0">
                <a:latin typeface="Times New Roman" panose="02020603050405020304" pitchFamily="18" charset="0"/>
                <a:cs typeface="Times New Roman" panose="02020603050405020304" pitchFamily="18" charset="0"/>
              </a:rPr>
              <a:t> Uses LSB method to embed data efficiently without noticeable distortion</a:t>
            </a:r>
            <a:r>
              <a:rPr lang="en-US" sz="3200" dirty="0"/>
              <a:t>.</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3" name="Content Placeholder 2">
            <a:extLst>
              <a:ext uri="{FF2B5EF4-FFF2-40B4-BE49-F238E27FC236}">
                <a16:creationId xmlns:a16="http://schemas.microsoft.com/office/drawing/2014/main" id="{AB679E23-F86A-AFA9-FE9C-7F5A518E8198}"/>
              </a:ext>
            </a:extLst>
          </p:cNvPr>
          <p:cNvSpPr>
            <a:spLocks noGrp="1"/>
          </p:cNvSpPr>
          <p:nvPr>
            <p:ph idx="1"/>
          </p:nvPr>
        </p:nvSpPr>
        <p:spPr/>
        <p:txBody>
          <a:bodyPr>
            <a:normAutofit/>
          </a:bodyPr>
          <a:lstStyle/>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Cybersecurity Professionals</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Government &amp; Defense Agencies</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Journalists &amp; Whistleblowers</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Secure Communication Users</a:t>
            </a:r>
          </a:p>
        </p:txBody>
      </p:sp>
    </p:spTree>
    <p:extLst>
      <p:ext uri="{BB962C8B-B14F-4D97-AF65-F5344CB8AC3E}">
        <p14:creationId xmlns:p14="http://schemas.microsoft.com/office/powerpoint/2010/main" val="381904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lstStyle/>
          <a:p>
            <a:r>
              <a:rPr lang="en-IN" dirty="0">
                <a:solidFill>
                  <a:schemeClr val="accent1"/>
                </a:solidFill>
              </a:rPr>
              <a:t>Results</a:t>
            </a:r>
          </a:p>
        </p:txBody>
      </p:sp>
      <p:pic>
        <p:nvPicPr>
          <p:cNvPr id="11" name="Content Placeholder 10">
            <a:extLst>
              <a:ext uri="{FF2B5EF4-FFF2-40B4-BE49-F238E27FC236}">
                <a16:creationId xmlns:a16="http://schemas.microsoft.com/office/drawing/2014/main" id="{EAA40C3F-544E-E659-0A41-2F77F8BB6260}"/>
              </a:ext>
            </a:extLst>
          </p:cNvPr>
          <p:cNvPicPr>
            <a:picLocks noGrp="1" noChangeAspect="1"/>
          </p:cNvPicPr>
          <p:nvPr>
            <p:ph idx="1"/>
          </p:nvPr>
        </p:nvPicPr>
        <p:blipFill>
          <a:blip r:embed="rId2"/>
          <a:stretch>
            <a:fillRect/>
          </a:stretch>
        </p:blipFill>
        <p:spPr>
          <a:xfrm>
            <a:off x="458770" y="1232452"/>
            <a:ext cx="5637230" cy="4673600"/>
          </a:xfrm>
        </p:spPr>
      </p:pic>
      <p:pic>
        <p:nvPicPr>
          <p:cNvPr id="13" name="Picture 12">
            <a:extLst>
              <a:ext uri="{FF2B5EF4-FFF2-40B4-BE49-F238E27FC236}">
                <a16:creationId xmlns:a16="http://schemas.microsoft.com/office/drawing/2014/main" id="{B8CB72CC-E808-2F8C-25EE-09D9D0A53685}"/>
              </a:ext>
            </a:extLst>
          </p:cNvPr>
          <p:cNvPicPr>
            <a:picLocks noChangeAspect="1"/>
          </p:cNvPicPr>
          <p:nvPr/>
        </p:nvPicPr>
        <p:blipFill>
          <a:blip r:embed="rId3"/>
          <a:stretch>
            <a:fillRect/>
          </a:stretch>
        </p:blipFill>
        <p:spPr>
          <a:xfrm>
            <a:off x="6627655" y="967304"/>
            <a:ext cx="4451497" cy="2152950"/>
          </a:xfrm>
          <a:prstGeom prst="rect">
            <a:avLst/>
          </a:prstGeom>
        </p:spPr>
      </p:pic>
      <p:pic>
        <p:nvPicPr>
          <p:cNvPr id="15" name="Picture 14">
            <a:extLst>
              <a:ext uri="{FF2B5EF4-FFF2-40B4-BE49-F238E27FC236}">
                <a16:creationId xmlns:a16="http://schemas.microsoft.com/office/drawing/2014/main" id="{F286C285-4701-D33A-A04A-D6E98A379EEF}"/>
              </a:ext>
            </a:extLst>
          </p:cNvPr>
          <p:cNvPicPr>
            <a:picLocks noChangeAspect="1"/>
          </p:cNvPicPr>
          <p:nvPr/>
        </p:nvPicPr>
        <p:blipFill>
          <a:blip r:embed="rId4"/>
          <a:stretch>
            <a:fillRect/>
          </a:stretch>
        </p:blipFill>
        <p:spPr>
          <a:xfrm>
            <a:off x="6788153" y="3569252"/>
            <a:ext cx="3282090" cy="3124986"/>
          </a:xfrm>
          <a:prstGeom prst="rect">
            <a:avLst/>
          </a:prstGeom>
        </p:spPr>
      </p:pic>
      <p:sp>
        <p:nvSpPr>
          <p:cNvPr id="16" name="TextBox 15">
            <a:extLst>
              <a:ext uri="{FF2B5EF4-FFF2-40B4-BE49-F238E27FC236}">
                <a16:creationId xmlns:a16="http://schemas.microsoft.com/office/drawing/2014/main" id="{9C7B6965-0B37-37E9-C80B-51DC883B8321}"/>
              </a:ext>
            </a:extLst>
          </p:cNvPr>
          <p:cNvSpPr txBox="1"/>
          <p:nvPr/>
        </p:nvSpPr>
        <p:spPr>
          <a:xfrm>
            <a:off x="458770" y="5930462"/>
            <a:ext cx="351619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Code</a:t>
            </a:r>
            <a:r>
              <a:rPr lang="en-IN" dirty="0"/>
              <a:t> </a:t>
            </a:r>
          </a:p>
        </p:txBody>
      </p:sp>
      <p:sp>
        <p:nvSpPr>
          <p:cNvPr id="17" name="TextBox 16">
            <a:extLst>
              <a:ext uri="{FF2B5EF4-FFF2-40B4-BE49-F238E27FC236}">
                <a16:creationId xmlns:a16="http://schemas.microsoft.com/office/drawing/2014/main" id="{FBA9E926-BEDE-5267-AB45-20B298836562}"/>
              </a:ext>
            </a:extLst>
          </p:cNvPr>
          <p:cNvSpPr txBox="1"/>
          <p:nvPr/>
        </p:nvSpPr>
        <p:spPr>
          <a:xfrm>
            <a:off x="6627655" y="3104082"/>
            <a:ext cx="902811"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Output</a:t>
            </a:r>
            <a:r>
              <a:rPr lang="en-IN" dirty="0"/>
              <a:t> </a:t>
            </a:r>
          </a:p>
        </p:txBody>
      </p:sp>
      <p:sp>
        <p:nvSpPr>
          <p:cNvPr id="18" name="TextBox 17">
            <a:extLst>
              <a:ext uri="{FF2B5EF4-FFF2-40B4-BE49-F238E27FC236}">
                <a16:creationId xmlns:a16="http://schemas.microsoft.com/office/drawing/2014/main" id="{E0CBAE74-F37D-F5C4-453A-4D9ADAD5AC02}"/>
              </a:ext>
            </a:extLst>
          </p:cNvPr>
          <p:cNvSpPr txBox="1"/>
          <p:nvPr/>
        </p:nvSpPr>
        <p:spPr>
          <a:xfrm>
            <a:off x="10303498" y="4562574"/>
            <a:ext cx="1345018" cy="1200329"/>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Encrypted image output</a:t>
            </a:r>
          </a:p>
          <a:p>
            <a:endParaRPr lang="en-IN" dirty="0"/>
          </a:p>
        </p:txBody>
      </p:sp>
    </p:spTree>
    <p:extLst>
      <p:ext uri="{BB962C8B-B14F-4D97-AF65-F5344CB8AC3E}">
        <p14:creationId xmlns:p14="http://schemas.microsoft.com/office/powerpoint/2010/main" val="20837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Steganography provides an effective method for secure data transmission without raising suspicion. This project successfully demonstrates data embedding and extraction within images using LSB steganography. Future enhancements could involve encryption before embedding to increase security further.</a:t>
            </a:r>
          </a:p>
        </p:txBody>
      </p:sp>
    </p:spTree>
    <p:extLst>
      <p:ext uri="{BB962C8B-B14F-4D97-AF65-F5344CB8AC3E}">
        <p14:creationId xmlns:p14="http://schemas.microsoft.com/office/powerpoint/2010/main" val="423388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https://github.com/yashpathak1903/Aicte-Edunet-Internship-Project</a:t>
            </a:r>
          </a:p>
        </p:txBody>
      </p:sp>
    </p:spTree>
    <p:extLst>
      <p:ext uri="{BB962C8B-B14F-4D97-AF65-F5344CB8AC3E}">
        <p14:creationId xmlns:p14="http://schemas.microsoft.com/office/powerpoint/2010/main" val="223066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Implementing encryption before embedding data</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Enhancing security using deep learning-based steganalysis detection</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Exploring other steganographic techniques such as frequency-domain methods</a:t>
            </a:r>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Tree>
    <p:extLst>
      <p:ext uri="{BB962C8B-B14F-4D97-AF65-F5344CB8AC3E}">
        <p14:creationId xmlns:p14="http://schemas.microsoft.com/office/powerpoint/2010/main" val="61488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Future forward</Template>
  <TotalTime>82</TotalTime>
  <Words>269</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Calibri Light</vt:lpstr>
      <vt:lpstr>Franklin Gothic Book</vt:lpstr>
      <vt:lpstr>Franklin Gothic Demi</vt:lpstr>
      <vt:lpstr>Roboto</vt:lpstr>
      <vt:lpstr>Times New Roman</vt:lpstr>
      <vt:lpstr>Wingdings 2</vt:lpstr>
      <vt:lpstr>DividendVTI</vt:lpstr>
      <vt:lpstr>Secure Data Hiding in Images Using Steganography</vt:lpstr>
      <vt:lpstr>OUTLINE</vt:lpstr>
      <vt:lpstr>Problem Statement</vt:lpstr>
      <vt:lpstr>Technology  used</vt:lpstr>
      <vt:lpstr>Wow factors</vt:lpstr>
      <vt:lpstr>End users</vt:lpstr>
      <vt:lpstr>Results</vt:lpstr>
      <vt:lpstr>Conclusion</vt:lpstr>
      <vt:lpstr>GitHub Link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Yash Pathak</cp:lastModifiedBy>
  <cp:revision>26</cp:revision>
  <dcterms:created xsi:type="dcterms:W3CDTF">2021-05-26T16:50:10Z</dcterms:created>
  <dcterms:modified xsi:type="dcterms:W3CDTF">2025-02-21T14:39:00Z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